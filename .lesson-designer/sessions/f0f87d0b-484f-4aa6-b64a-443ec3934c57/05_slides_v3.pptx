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1: Prior Knowledge Activation</a:t>
            </a:r>
          </a:p>
          <a:p>
            <a:r>
              <a:t>Duration: 5 minutes | Marzano Level: Retrieval</a:t>
            </a:r>
          </a:p>
          <a:p>
            <a:r>
              <a:t>========================================</a:t>
            </a:r>
          </a:p>
          <a:p/>
          <a:p>
            <a:r>
              <a:t>FULL INSTRUCTIONS:</a:t>
            </a:r>
          </a:p>
          <a:p>
            <a:r>
              <a:t>  1. Think of a historical event you know well</a:t>
            </a:r>
          </a:p>
          <a:p>
            <a:r>
              <a:t>  2. Consider: What sources tell us about that event?</a:t>
            </a:r>
          </a:p>
          <a:p>
            <a:r>
              <a:t>  3. Share one example with a partner</a:t>
            </a:r>
          </a:p>
          <a:p/>
          <a:p>
            <a:r>
              <a:t>MATERIALS: None required</a:t>
            </a:r>
          </a:p>
          <a:p/>
          <a:p>
            <a:r>
              <a:t>========================================</a:t>
            </a:r>
          </a:p>
          <a:p/>
          <a:p>
            <a:r>
              <a:t>SAY: [Introduce this activity]</a:t>
            </a:r>
          </a:p>
          <a:p>
            <a:r>
              <a:t>ASK: [Check for understanding]</a:t>
            </a:r>
          </a:p>
          <a:p>
            <a:r>
              <a:t>WATCH FOR: [Common mistakes]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2: Introduction to Primary Sources</a:t>
            </a:r>
          </a:p>
          <a:p>
            <a:r>
              <a:t>Duration: 10 minutes | Marzano Level: Comprehension</a:t>
            </a:r>
          </a:p>
          <a:p>
            <a:r>
              <a:t>========================================</a:t>
            </a:r>
          </a:p>
          <a:p/>
          <a:p>
            <a:r>
              <a:t>FULL INSTRUCTIONS:</a:t>
            </a:r>
          </a:p>
          <a:p>
            <a:r>
              <a:t>  1. Define 'primary source' as a firsthand account from the time of an event</a:t>
            </a:r>
          </a:p>
          <a:p>
            <a:r>
              <a:t>  2. Identify types of primary sources: letters, diaries, photographs, official documents</a:t>
            </a:r>
          </a:p>
          <a:p>
            <a:r>
              <a:t>  3. Contrast with secondary sources: textbooks, encyclopedias, documentaries</a:t>
            </a:r>
          </a:p>
          <a:p>
            <a:r>
              <a:t>  4. Take notes on the key characteristics</a:t>
            </a:r>
          </a:p>
          <a:p/>
          <a:p>
            <a:r>
              <a:t>MATERIALS: Slide deck slides 3-6, Types of Sources handout</a:t>
            </a:r>
          </a:p>
          <a:p/>
          <a:p>
            <a:r>
              <a:t>========================================</a:t>
            </a:r>
          </a:p>
          <a:p/>
          <a:p>
            <a:r>
              <a:t>SAY: [Introduce this activity]</a:t>
            </a:r>
          </a:p>
          <a:p>
            <a:r>
              <a:t>ASK: [Check for understanding]</a:t>
            </a:r>
          </a:p>
          <a:p>
            <a:r>
              <a:t>WATCH FOR: [Common mistakes]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3: Document Analysis Practice</a:t>
            </a:r>
          </a:p>
          <a:p>
            <a:r>
              <a:t>Duration: 15 minutes | Marzano Level: Analysis</a:t>
            </a:r>
          </a:p>
          <a:p>
            <a:r>
              <a:t>========================================</a:t>
            </a:r>
          </a:p>
          <a:p/>
          <a:p>
            <a:r>
              <a:t>FULL INSTRUCTIONS:</a:t>
            </a:r>
          </a:p>
          <a:p>
            <a:r>
              <a:t>  1. Read the provided Civil War letter carefully</a:t>
            </a:r>
          </a:p>
          <a:p>
            <a:r>
              <a:t>  2. Identify who wrote it, when, and to whom</a:t>
            </a:r>
          </a:p>
          <a:p>
            <a:r>
              <a:t>  3. Note the author's perspective and potential biases</a:t>
            </a:r>
          </a:p>
          <a:p>
            <a:r>
              <a:t>  4. Complete the SOAP analysis worksheet (Speaker, Occasion, Audience, Purpose)</a:t>
            </a:r>
          </a:p>
          <a:p/>
          <a:p>
            <a:r>
              <a:t>MATERIALS: Civil War soldier letter (primary source), SOAP Analysis Worksheet</a:t>
            </a:r>
          </a:p>
          <a:p/>
          <a:p>
            <a:r>
              <a:t>========================================</a:t>
            </a:r>
          </a:p>
          <a:p/>
          <a:p>
            <a:r>
              <a:t>SAY: [Introduce this activity]</a:t>
            </a:r>
          </a:p>
          <a:p>
            <a:r>
              <a:t>ASK: [Check for understanding]</a:t>
            </a:r>
          </a:p>
          <a:p>
            <a:r>
              <a:t>WATCH FOR: [Common mistakes]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4: Evaluating Historical Claims</a:t>
            </a:r>
          </a:p>
          <a:p>
            <a:r>
              <a:t>Duration: 15 minutes | Marzano Level: Knowledge Utilization</a:t>
            </a:r>
          </a:p>
          <a:p>
            <a:r>
              <a:t>========================================</a:t>
            </a:r>
          </a:p>
          <a:p/>
          <a:p>
            <a:r>
              <a:t>FULL INSTRUCTIONS:</a:t>
            </a:r>
          </a:p>
          <a:p>
            <a:r>
              <a:t>  1. Identify 2-3 historical claims made in the primary source</a:t>
            </a:r>
          </a:p>
          <a:p>
            <a:r>
              <a:t>  2. Evaluate the evidence supporting each claim</a:t>
            </a:r>
          </a:p>
          <a:p>
            <a:r>
              <a:t>  3. Rate the reliability of each claim (strong/moderate/weak)</a:t>
            </a:r>
          </a:p>
          <a:p>
            <a:r>
              <a:t>  4. Justify your ratings with specific evidence from the source</a:t>
            </a:r>
          </a:p>
          <a:p/>
          <a:p>
            <a:r>
              <a:t>MATERIALS: Claim Evaluation Chart, Reliability Rating Rubric</a:t>
            </a:r>
          </a:p>
          <a:p/>
          <a:p>
            <a:r>
              <a:t>========================================</a:t>
            </a:r>
          </a:p>
          <a:p/>
          <a:p>
            <a:r>
              <a:t>SAY: [Introduce this activity]</a:t>
            </a:r>
          </a:p>
          <a:p>
            <a:r>
              <a:t>ASK: [Check for understanding]</a:t>
            </a:r>
          </a:p>
          <a:p>
            <a:r>
              <a:t>WATCH FOR: [Common mistakes]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D5A87"/>
                </a:solidFill>
              </a:defRPr>
            </a:pPr>
            <a:r>
              <a:t>Lesson Agenda with Notes/Materials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457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75">
                <a:solidFill>
                  <a:srgbClr val="34495E"/>
                </a:solidFill>
              </a:defRPr>
            </a:pPr>
            <a:r>
              <a:t>Students will analyze a primary source document and evaluate the historical claims it makes.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A87"/>
                </a:solidFill>
              </a:rPr>
              <a:t>1. Prior Knowledge Activation </a:t>
            </a:r>
            <a:r>
              <a:rPr sz="1500">
                <a:solidFill>
                  <a:srgbClr val="2C3E50"/>
                </a:solidFill>
              </a:rPr>
              <a:t>(5 mins): Think of a historical event you know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A87"/>
                </a:solidFill>
              </a:rPr>
              <a:t>2. Introduction to Primary Sources </a:t>
            </a:r>
            <a:r>
              <a:rPr sz="1500">
                <a:solidFill>
                  <a:srgbClr val="2C3E50"/>
                </a:solidFill>
              </a:rPr>
              <a:t>(10 mins): Define 'primary source' as a firsthand account fro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A87"/>
                </a:solidFill>
              </a:rPr>
              <a:t>3. Document Analysis Practice </a:t>
            </a:r>
            <a:r>
              <a:rPr sz="1500">
                <a:solidFill>
                  <a:srgbClr val="2C3E50"/>
                </a:solidFill>
              </a:rPr>
              <a:t>(15 mins): Read the provided Civil War letter carefully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A87"/>
                </a:solidFill>
              </a:rPr>
              <a:t>4. Evaluating Historical Claims </a:t>
            </a:r>
            <a:r>
              <a:rPr sz="1500">
                <a:solidFill>
                  <a:srgbClr val="2C3E50"/>
                </a:solidFill>
              </a:rPr>
              <a:t>(15 mins): Identify 2-3 historical claims made in the 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5A87"/>
                </a:solidFill>
              </a:rPr>
              <a:t>5. Exit Ticket </a:t>
            </a:r>
            <a:r>
              <a:rPr sz="1500">
                <a:solidFill>
                  <a:srgbClr val="2C3E50"/>
                </a:solidFill>
              </a:rPr>
              <a:t>(5 mins): Answer the exit ticket questions independently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 i="1">
                <a:solidFill>
                  <a:srgbClr val="2D5A87"/>
                </a:solidFill>
              </a:defRPr>
            </a:pPr>
            <a:r>
              <a:t>Analyzing Primary Sources: Civil War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D5A87"/>
                </a:solidFill>
              </a:defRPr>
            </a:pPr>
            <a:r>
              <a:t>TODAY'S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Students will analyze a primary source document and evaluate the historical claims it makes.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8th grade | 50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i="1">
                <a:solidFill>
                  <a:srgbClr val="2D5A87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4495E"/>
                </a:solidFill>
              </a:rPr>
              <a:t>▢ </a:t>
            </a:r>
            <a:r>
              <a:rPr sz="1400">
                <a:solidFill>
                  <a:srgbClr val="34495E"/>
                </a:solidFill>
              </a:rPr>
              <a:t>Prior Knowledge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4495E"/>
                </a:solidFill>
              </a:rPr>
              <a:t>▢ </a:t>
            </a:r>
            <a:r>
              <a:rPr sz="1400">
                <a:solidFill>
                  <a:srgbClr val="34495E"/>
                </a:solidFill>
              </a:rPr>
              <a:t>Introduction to Primary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4495E"/>
                </a:solidFill>
              </a:rPr>
              <a:t>▢ </a:t>
            </a:r>
            <a:r>
              <a:rPr sz="1400">
                <a:solidFill>
                  <a:srgbClr val="34495E"/>
                </a:solidFill>
              </a:rPr>
              <a:t>Document Analysis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4495E"/>
                </a:solidFill>
              </a:rPr>
              <a:t>▢ </a:t>
            </a:r>
            <a:r>
              <a:rPr sz="1400">
                <a:solidFill>
                  <a:srgbClr val="34495E"/>
                </a:solidFill>
              </a:rPr>
              <a:t>Evaluating Historical Claims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4495E"/>
                </a:solidFill>
              </a:rPr>
              <a:t>▢ </a:t>
            </a:r>
            <a:r>
              <a:rPr sz="1400">
                <a:solidFill>
                  <a:srgbClr val="34495E"/>
                </a:solidFill>
              </a:rPr>
              <a:t>Exit Ticket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i="1">
                <a:solidFill>
                  <a:srgbClr val="2D5A87"/>
                </a:solidFill>
              </a:defRPr>
            </a:pPr>
            <a:r>
              <a:t>📚 Key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40AF"/>
                </a:solidFill>
              </a:defRPr>
            </a:pPr>
            <a:r>
              <a:t>PRIMARY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A firsthand account or direct evidence from the time of an event, created by someone who experienced or witnessed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F46"/>
                </a:solidFill>
              </a:defRPr>
            </a:pPr>
            <a:r>
              <a:t>SECONDARY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An account or analysis created after an event by someone who did not directly experience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2400E"/>
                </a:solidFill>
              </a:defRPr>
            </a:pPr>
            <a:r>
              <a:t>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A tendency to favor one perspective, viewpoint, or outcome over others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1B1B"/>
                </a:solidFill>
              </a:defRPr>
            </a:pPr>
            <a:r>
              <a:t>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The trustworthiness and accuracy of a source's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21B6"/>
                </a:solidFill>
              </a:defRPr>
            </a:pPr>
            <a:r>
              <a:t>CORROBORATION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Confirming information by comparing it with other 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i="1">
                <a:solidFill>
                  <a:srgbClr val="2D5A87"/>
                </a:solidFill>
              </a:defRPr>
            </a:pPr>
            <a:r>
              <a:t>📌 Prior Knowledge Activation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4D03F"/>
                </a:solidFill>
              </a:defRPr>
            </a:pPr>
            <a:r>
              <a:t>05:00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Think of a historical event you know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Consider: What sources tell us about that event?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Share one example with a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F8C8D"/>
                </a:solidFill>
              </a:defRPr>
            </a:pPr>
            <a:r>
              <a:t>Output: Verbal sharing with partner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i="1">
                <a:solidFill>
                  <a:srgbClr val="2D5A87"/>
                </a:solidFill>
              </a:defRPr>
            </a:pPr>
            <a:r>
              <a:t>📌 Introduction to Primary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4D03F"/>
                </a:solidFill>
              </a:defRPr>
            </a:pPr>
            <a:r>
              <a:t>10:00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Define 'primary source' as a firsthand account from the time of an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Identify types of primary sources: letters, diaries, photographs, official do...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Contrast with secondary sources: textbooks, encyclopedias, documentaries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Take notes on the key characteristics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F8C8D"/>
                </a:solidFill>
              </a:defRPr>
            </a:pPr>
            <a:r>
              <a:t>Output: Notes on primary source characteristics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i="1">
                <a:solidFill>
                  <a:srgbClr val="2D5A87"/>
                </a:solidFill>
              </a:defRPr>
            </a:pPr>
            <a:r>
              <a:t>💪 Document Analysis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4D03F"/>
                </a:solidFill>
              </a:defRPr>
            </a:pPr>
            <a:r>
              <a:t>15:00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Read the provided Civil War letter carefully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Identify who wrote it, when, and to whom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Note the author's perspective and potential biases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Complete the SOAP analysis worksheet (Speaker, Occasion, Audience, Purpose)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F8C8D"/>
                </a:solidFill>
              </a:defRPr>
            </a:pPr>
            <a:r>
              <a:t>Output: Completed SOAP analysis worksheet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i="1">
                <a:solidFill>
                  <a:srgbClr val="2D5A87"/>
                </a:solidFill>
              </a:defRPr>
            </a:pPr>
            <a:r>
              <a:t>📌 Evaluating Historical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4D03F"/>
                </a:solidFill>
              </a:defRPr>
            </a:pPr>
            <a:r>
              <a:t>15:00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Identify 2-3 historical claims made in the primary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Evaluate the evidence supporting each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Rate the reliability of each claim (strong/moderate/weak)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Justify your ratings with specific evidence from the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F8C8D"/>
                </a:solidFill>
              </a:defRPr>
            </a:pPr>
            <a:r>
              <a:t>Output: Completed claim evaluation chart with justifications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i="1">
                <a:solidFill>
                  <a:srgbClr val="2D5A87"/>
                </a:solidFill>
              </a:defRPr>
            </a:pPr>
            <a:r>
              <a:t>🎯 Complete the 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Analyzing Primary Sources: Civil War 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4495E"/>
                </a:solidFill>
              </a:rPr>
              <a:t>1. </a:t>
            </a:r>
            <a:r>
              <a:rPr sz="1100">
                <a:solidFill>
                  <a:srgbClr val="34495E"/>
                </a:solidFill>
              </a:rPr>
              <a:t>What makes a source 'primary' rather than 'secondary'? Give one example of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4495E"/>
                </a:solidFill>
              </a:rPr>
              <a:t>2. </a:t>
            </a:r>
            <a:r>
              <a:rPr sz="1100">
                <a:solidFill>
                  <a:srgbClr val="34495E"/>
                </a:solidFill>
              </a:rPr>
              <a:t>What is one way to identify potential bias in a primary source?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4495E"/>
                </a:solidFill>
              </a:rPr>
              <a:t>3. </a:t>
            </a:r>
            <a:r>
              <a:rPr sz="1100">
                <a:solidFill>
                  <a:srgbClr val="34495E"/>
                </a:solidFill>
              </a:rPr>
              <a:t>Why is it important to evaluate the reliability of historical claims?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