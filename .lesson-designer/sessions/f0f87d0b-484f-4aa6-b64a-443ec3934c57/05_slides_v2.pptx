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1: Prior Knowledge Activation</a:t>
            </a:r>
          </a:p>
          <a:p>
            <a:r>
              <a:t>Duration: 5 minutes | Marzano: Retrieval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Think of a historical event you know well</a:t>
            </a:r>
          </a:p>
          <a:p>
            <a:r>
              <a:t>  2. Consider: What sources tell us about that event?</a:t>
            </a:r>
          </a:p>
          <a:p>
            <a:r>
              <a:t>  3. Share one example with a partner</a:t>
            </a:r>
          </a:p>
          <a:p/>
          <a:p>
            <a:r>
              <a:t>MATERIALS: None required</a:t>
            </a:r>
          </a:p>
          <a:p/>
          <a:p>
            <a:r>
              <a:t>STUDENT OUTPUT: Verbal sharing with partner</a:t>
            </a:r>
          </a:p>
          <a:p/>
          <a:p>
            <a:r>
              <a:t>ASSESSMENT: Observation of participation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 and set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WATCH FOR: [Common mistakes or misconceptions]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 Provide example events for students to choose from; Pair struggling students with supportive partners</a:t>
            </a:r>
          </a:p>
          <a:p>
            <a:r>
              <a:t>  Extension: Ask students to categorize their sources (primary vs secondary)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2: Introduction to Primary Sources</a:t>
            </a:r>
          </a:p>
          <a:p>
            <a:r>
              <a:t>Duration: 10 minutes | Marzano: Comprehension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Define 'primary source' as a firsthand account from the time of an event</a:t>
            </a:r>
          </a:p>
          <a:p>
            <a:r>
              <a:t>  2. Identify types of primary sources: letters, diaries, photographs, official documents</a:t>
            </a:r>
          </a:p>
          <a:p>
            <a:r>
              <a:t>  3. Contrast with secondary sources: textbooks, encyclopedias, documentaries</a:t>
            </a:r>
          </a:p>
          <a:p>
            <a:r>
              <a:t>  4. Take notes on the key characteristics</a:t>
            </a:r>
          </a:p>
          <a:p/>
          <a:p>
            <a:r>
              <a:t>MATERIALS: Slide deck slides 3-6, Types of Sources handout</a:t>
            </a:r>
          </a:p>
          <a:p/>
          <a:p>
            <a:r>
              <a:t>STUDENT OUTPUT: Notes on primary source characteristics</a:t>
            </a:r>
          </a:p>
          <a:p/>
          <a:p>
            <a:r>
              <a:t>ASSESSMENT: Check for understanding questions during instruction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 and set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WATCH FOR: [Common mistakes or misconceptions]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 Provide graphic organizer for note-taking; Use visual examples heavily</a:t>
            </a:r>
          </a:p>
          <a:p>
            <a:r>
              <a:t>  Extension: Have students find additional examples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3: Document Analysis Practice</a:t>
            </a:r>
          </a:p>
          <a:p>
            <a:r>
              <a:t>Duration: 15 minutes | Marzano: Analysis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Read the provided Civil War letter carefully</a:t>
            </a:r>
          </a:p>
          <a:p>
            <a:r>
              <a:t>  2. Identify who wrote it, when, and to whom</a:t>
            </a:r>
          </a:p>
          <a:p>
            <a:r>
              <a:t>  3. Note the author's perspective and potential biases</a:t>
            </a:r>
          </a:p>
          <a:p>
            <a:r>
              <a:t>  4. Complete the SOAP analysis worksheet (Speaker, Occasion, Audience, Purpose)</a:t>
            </a:r>
          </a:p>
          <a:p/>
          <a:p>
            <a:r>
              <a:t>MATERIALS: Civil War soldier letter (primary source), SOAP Analysis Worksheet</a:t>
            </a:r>
          </a:p>
          <a:p/>
          <a:p>
            <a:r>
              <a:t>STUDENT OUTPUT: Completed SOAP analysis worksheet</a:t>
            </a:r>
          </a:p>
          <a:p/>
          <a:p>
            <a:r>
              <a:t>ASSESSMENT: Worksheet review for accuracy and depth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 and set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WATCH FOR: [Common mistakes or misconceptions]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 Provide sentence starters for analysis; Allow partner work for struggling students</a:t>
            </a:r>
          </a:p>
          <a:p>
            <a:r>
              <a:t>  Extension: Compare with a second primary source from different perspective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4: Evaluating Historical Claims</a:t>
            </a:r>
          </a:p>
          <a:p>
            <a:r>
              <a:t>Duration: 15 minutes | Marzano: Knowledge Utilization</a:t>
            </a:r>
          </a:p>
          <a:p>
            <a:r>
              <a:t>========================================</a:t>
            </a:r>
          </a:p>
          <a:p/>
          <a:p>
            <a:r>
              <a:t>FULL INSTRUCTIONS:</a:t>
            </a:r>
          </a:p>
          <a:p>
            <a:r>
              <a:t>  1. Identify 2-3 historical claims made in the primary source</a:t>
            </a:r>
          </a:p>
          <a:p>
            <a:r>
              <a:t>  2. Evaluate the evidence supporting each claim</a:t>
            </a:r>
          </a:p>
          <a:p>
            <a:r>
              <a:t>  3. Rate the reliability of each claim (strong/moderate/weak)</a:t>
            </a:r>
          </a:p>
          <a:p>
            <a:r>
              <a:t>  4. Justify your ratings with specific evidence from the source</a:t>
            </a:r>
          </a:p>
          <a:p/>
          <a:p>
            <a:r>
              <a:t>MATERIALS: Claim Evaluation Chart, Reliability Rating Rubric</a:t>
            </a:r>
          </a:p>
          <a:p/>
          <a:p>
            <a:r>
              <a:t>STUDENT OUTPUT: Completed claim evaluation chart with justifications</a:t>
            </a:r>
          </a:p>
          <a:p/>
          <a:p>
            <a:r>
              <a:t>ASSESSMENT: Partner review followed by class discussion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this activity and set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WATCH FOR: [Common mistakes or misconceptions]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 Pre-identify one claim for students to evaluate; Provide examples of strong vs weak evidence</a:t>
            </a:r>
          </a:p>
          <a:p>
            <a:r>
              <a:t>  Extension: Research additional sources to corroborate or challenge claims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Analyzing Primary Sources: Civil War Era — Teacher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8595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Objective: Students will analyze a primary source document and evaluate the historical claims it makes.</a:t>
            </a:r>
          </a:p>
          <a:p>
            <a:pPr>
              <a:defRPr sz="1200">
                <a:solidFill>
                  <a:srgbClr val="333333"/>
                </a:solidFill>
              </a:defRPr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1. Prior Knowledge Activation (5 min): Think of a historical event you know well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2. Introduction to Primary Sources (10 min): Define 'primary source' as a firsthand account from the time...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3. Document Analysis Practice (15 min): Read the provided Civil War letter carefully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4. Evaluating Historical Claims (15 min): Identify 2-3 historical claims made in the primary source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5. Exit Ticket (5 min): Answer the exit ticket questions independently</a:t>
            </a:r>
          </a:p>
          <a:p>
            <a:br/>
            <a:pPr>
              <a:defRPr sz="1200">
                <a:solidFill>
                  <a:srgbClr val="333333"/>
                </a:solidFill>
              </a:defRPr>
            </a:pPr>
            <a:r>
              <a:t>Total: 50 minutes</a:t>
            </a:r>
          </a:p>
          <a:p>
            <a:br/>
            <a:pPr>
              <a:defRPr sz="1200">
                <a:solidFill>
                  <a:srgbClr val="333333"/>
                </a:solidFill>
              </a:defRPr>
            </a:pPr>
            <a:r>
              <a:t>Anticipated Misconceptions: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Students may think all old documents are primary sources (age does not determine primary vs secondary)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Students may confuse objectivity with reliability (biased sources can still be reliable for certain purposes)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Students may think primary sources are always more accurate than secondary sources</a:t>
            </a:r>
          </a:p>
          <a:p>
            <a:br/>
            <a:pPr>
              <a:defRPr sz="1200">
                <a:solidFill>
                  <a:srgbClr val="333333"/>
                </a:solidFill>
              </a:defRPr>
            </a:pPr>
            <a:r>
              <a:t>Delivery Tips: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Use a document relevant to your current unit - Civil War letters work well for this topic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Model the SOAP analysis process with a practice document before independent work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  • Circulate during analysis activity to provide targeted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Analyzing Primary Sources: Civil War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66CC"/>
                </a:solidFill>
              </a:defRPr>
            </a:pPr>
            <a:r>
              <a:t>TODAY'S OBJECTIVE</a:t>
            </a:r>
          </a:p>
          <a:p>
            <a:pPr algn="ctr">
              <a:defRPr sz="1600">
                <a:solidFill>
                  <a:srgbClr val="333333"/>
                </a:solidFill>
              </a:defRPr>
            </a:pPr>
            <a:r>
              <a:t>Students will analyze a primary source document and evaluate the historical claims it makes.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8th grade | 50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🔍  Prior Knowledge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Think of a historical event you know well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Consider: What sources tell us about that event?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Share one example with a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⏱️ 5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📖  Introduction to Primary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Define 'primary source' as a firsthand account from the time of an event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Identify types of primary sources: letters, diaries, photographs, official do...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Contrast with secondary sources: textbooks, encyclopedias, documentaries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Take notes on the key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⏱️ 10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💪  Document Analysis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Read the provided Civil War letter carefully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Identify who wrote it, when, and to whom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Note the author's perspective and potential biases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Complete the SOAP analysis worksheet (Speaker, Occasion, Audience, Purpose)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⏱️ 15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🎯  Evaluating Historical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Identify 2-3 historical claims made in the primary source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Evaluate the evidence supporting each claim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Rate the reliability of each claim (strong/moderate/weak)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Justify your ratings with specific evidence from the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⏱️ 15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🎟️  Show What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Complete these questions before leaving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1. What makes a source 'primary' rather than 'secondary'? Give one example of each.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2. What is one way to identify potential bias in a primary source?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3. Why is it important to evaluate the reliability of historical claims?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Work silently and independently</a:t>
            </a:r>
          </a:p>
          <a:p>
            <a:pPr>
              <a:defRPr sz="1000">
                <a:solidFill>
                  <a:srgbClr val="808080"/>
                </a:solidFill>
              </a:defRPr>
            </a:pPr>
            <a:r>
              <a:t>✓ Submit when finished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