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Welcome everyone. Today we're going to...</a:t>
            </a:r>
          </a:p>
          <a:p/>
          <a:p>
            <a:r>
              <a:t>PREPARATION CHECK:</a:t>
            </a:r>
          </a:p>
          <a:p>
            <a:r>
              <a:t>- All materials ready?</a:t>
            </a:r>
          </a:p>
          <a:p>
            <a:r>
              <a:t>- Technology working?</a:t>
            </a:r>
          </a:p>
          <a:p>
            <a:r>
              <a:t>- Seating arranged appropriately?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By the end of today's lesson, you'll be able to...</a:t>
            </a:r>
          </a:p>
          <a:p/>
          <a:p>
            <a:r>
              <a:t>ASK: What do you already know about this topic?</a:t>
            </a:r>
          </a:p>
          <a:p/>
          <a:p>
            <a:r>
              <a:t>CHECK: Students understand what they'll be able to do by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MARZANO LEVEL: Retrieval</a:t>
            </a:r>
          </a:p>
          <a:p/>
          <a:p>
            <a:r>
              <a:t>INSTRUCTIONS:</a:t>
            </a:r>
          </a:p>
          <a:p>
            <a:r>
              <a:t>  1. Think of a historical event you know well</a:t>
            </a:r>
          </a:p>
          <a:p>
            <a:r>
              <a:t>  2. Consider: What sources tell us about that event?</a:t>
            </a:r>
          </a:p>
          <a:p>
            <a:r>
              <a:t>  3. Share one example with a partner</a:t>
            </a:r>
          </a:p>
          <a:p/>
          <a:p>
            <a:r>
              <a:t>MATERIALS NEEDED:</a:t>
            </a:r>
          </a:p>
          <a:p>
            <a:r>
              <a:t>  - None required</a:t>
            </a:r>
          </a:p>
          <a:p/>
          <a:p>
            <a:r>
              <a:t>STUDENT OUTPUT: Verbal sharing with partner</a:t>
            </a:r>
          </a:p>
          <a:p/>
          <a:p>
            <a:r>
              <a:t>ASSESSMENT: Observation of participation</a:t>
            </a:r>
          </a:p>
          <a:p/>
          <a:p>
            <a:r>
              <a:t>========================================</a:t>
            </a:r>
          </a:p>
          <a:p/>
          <a:p>
            <a:r>
              <a:t>SAY: [Introduce the activity and explain expectations]</a:t>
            </a:r>
          </a:p>
          <a:p/>
          <a:p>
            <a:r>
              <a:t>ASK: [Check for understanding before students begin]</a:t>
            </a:r>
          </a:p>
          <a:p/>
          <a:p>
            <a:r>
              <a:t>DEMO: [Show example if applicable]</a:t>
            </a:r>
          </a:p>
          <a:p/>
          <a:p>
            <a:r>
              <a:t>WATCH FOR: [Common issues or misconceptions to address]</a:t>
            </a:r>
          </a:p>
          <a:p/>
          <a:p>
            <a:r>
              <a:t>========================================</a:t>
            </a:r>
          </a:p>
          <a:p/>
          <a:p>
            <a:r>
              <a:t>DIFFERENTIATION:</a:t>
            </a:r>
          </a:p>
          <a:p>
            <a:r>
              <a:t>  Support:</a:t>
            </a:r>
          </a:p>
          <a:p>
            <a:r>
              <a:t>    - Provide example events for students to choose from</a:t>
            </a:r>
          </a:p>
          <a:p>
            <a:r>
              <a:t>    - Pair struggling students with supportive partners</a:t>
            </a:r>
          </a:p>
          <a:p>
            <a:r>
              <a:t>  Extension:</a:t>
            </a:r>
          </a:p>
          <a:p>
            <a:r>
              <a:t>    - Ask students to categorize their sources (primary vs secondary)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MARZANO LEVEL: Comprehension</a:t>
            </a:r>
          </a:p>
          <a:p/>
          <a:p>
            <a:r>
              <a:t>INSTRUCTIONS:</a:t>
            </a:r>
          </a:p>
          <a:p>
            <a:r>
              <a:t>  1. Define 'primary source' as a firsthand account from the time of an event</a:t>
            </a:r>
          </a:p>
          <a:p>
            <a:r>
              <a:t>  2. Identify types of primary sources: letters, diaries, photographs, official documents</a:t>
            </a:r>
          </a:p>
          <a:p>
            <a:r>
              <a:t>  3. Contrast with secondary sources: textbooks, encyclopedias, documentaries</a:t>
            </a:r>
          </a:p>
          <a:p>
            <a:r>
              <a:t>  4. Take notes on the key characteristics</a:t>
            </a:r>
          </a:p>
          <a:p/>
          <a:p>
            <a:r>
              <a:t>MATERIALS NEEDED:</a:t>
            </a:r>
          </a:p>
          <a:p>
            <a:r>
              <a:t>  - Slide deck slides 3-6</a:t>
            </a:r>
          </a:p>
          <a:p>
            <a:r>
              <a:t>  - Types of Sources handout</a:t>
            </a:r>
          </a:p>
          <a:p/>
          <a:p>
            <a:r>
              <a:t>STUDENT OUTPUT: Notes on primary source characteristics</a:t>
            </a:r>
          </a:p>
          <a:p/>
          <a:p>
            <a:r>
              <a:t>ASSESSMENT: Check for understanding questions during instruction</a:t>
            </a:r>
          </a:p>
          <a:p/>
          <a:p>
            <a:r>
              <a:t>========================================</a:t>
            </a:r>
          </a:p>
          <a:p/>
          <a:p>
            <a:r>
              <a:t>SAY: [Introduce the activity and explain expectations]</a:t>
            </a:r>
          </a:p>
          <a:p/>
          <a:p>
            <a:r>
              <a:t>ASK: [Check for understanding before students begin]</a:t>
            </a:r>
          </a:p>
          <a:p/>
          <a:p>
            <a:r>
              <a:t>DEMO: [Show example if applicable]</a:t>
            </a:r>
          </a:p>
          <a:p/>
          <a:p>
            <a:r>
              <a:t>WATCH FOR: [Common issues or misconceptions to address]</a:t>
            </a:r>
          </a:p>
          <a:p/>
          <a:p>
            <a:r>
              <a:t>========================================</a:t>
            </a:r>
          </a:p>
          <a:p/>
          <a:p>
            <a:r>
              <a:t>DIFFERENTIATION:</a:t>
            </a:r>
          </a:p>
          <a:p>
            <a:r>
              <a:t>  Support:</a:t>
            </a:r>
          </a:p>
          <a:p>
            <a:r>
              <a:t>    - Provide graphic organizer for note-taking</a:t>
            </a:r>
          </a:p>
          <a:p>
            <a:r>
              <a:t>    - Use visual examples heavily</a:t>
            </a:r>
          </a:p>
          <a:p>
            <a:r>
              <a:t>  Extension:</a:t>
            </a:r>
          </a:p>
          <a:p>
            <a:r>
              <a:t>    - Have students find additional examples online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MARZANO LEVEL: Analysis</a:t>
            </a:r>
          </a:p>
          <a:p/>
          <a:p>
            <a:r>
              <a:t>INSTRUCTIONS:</a:t>
            </a:r>
          </a:p>
          <a:p>
            <a:r>
              <a:t>  1. Read the provided Civil War letter carefully</a:t>
            </a:r>
          </a:p>
          <a:p>
            <a:r>
              <a:t>  2. Identify who wrote it, when, and to whom</a:t>
            </a:r>
          </a:p>
          <a:p>
            <a:r>
              <a:t>  3. Note the author's perspective and potential biases</a:t>
            </a:r>
          </a:p>
          <a:p>
            <a:r>
              <a:t>  4. Complete the SOAP analysis worksheet (Speaker, Occasion, Audience, Purpose)</a:t>
            </a:r>
          </a:p>
          <a:p/>
          <a:p>
            <a:r>
              <a:t>MATERIALS NEEDED:</a:t>
            </a:r>
          </a:p>
          <a:p>
            <a:r>
              <a:t>  - Civil War soldier letter (primary source)</a:t>
            </a:r>
          </a:p>
          <a:p>
            <a:r>
              <a:t>  - SOAP Analysis Worksheet</a:t>
            </a:r>
          </a:p>
          <a:p/>
          <a:p>
            <a:r>
              <a:t>STUDENT OUTPUT: Completed SOAP analysis worksheet</a:t>
            </a:r>
          </a:p>
          <a:p/>
          <a:p>
            <a:r>
              <a:t>ASSESSMENT: Worksheet review for accuracy and depth</a:t>
            </a:r>
          </a:p>
          <a:p/>
          <a:p>
            <a:r>
              <a:t>========================================</a:t>
            </a:r>
          </a:p>
          <a:p/>
          <a:p>
            <a:r>
              <a:t>SAY: [Introduce the activity and explain expectations]</a:t>
            </a:r>
          </a:p>
          <a:p/>
          <a:p>
            <a:r>
              <a:t>ASK: [Check for understanding before students begin]</a:t>
            </a:r>
          </a:p>
          <a:p/>
          <a:p>
            <a:r>
              <a:t>DEMO: [Show example if applicable]</a:t>
            </a:r>
          </a:p>
          <a:p/>
          <a:p>
            <a:r>
              <a:t>WATCH FOR: [Common issues or misconceptions to address]</a:t>
            </a:r>
          </a:p>
          <a:p/>
          <a:p>
            <a:r>
              <a:t>========================================</a:t>
            </a:r>
          </a:p>
          <a:p/>
          <a:p>
            <a:r>
              <a:t>DIFFERENTIATION:</a:t>
            </a:r>
          </a:p>
          <a:p>
            <a:r>
              <a:t>  Support:</a:t>
            </a:r>
          </a:p>
          <a:p>
            <a:r>
              <a:t>    - Provide sentence starters for analysis</a:t>
            </a:r>
          </a:p>
          <a:p>
            <a:r>
              <a:t>    - Allow partner work for struggling students</a:t>
            </a:r>
          </a:p>
          <a:p>
            <a:r>
              <a:t>  Extension:</a:t>
            </a:r>
          </a:p>
          <a:p>
            <a:r>
              <a:t>    - Compare with a second primary source from different perspective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MARZANO LEVEL: Knowledge Utilization</a:t>
            </a:r>
          </a:p>
          <a:p/>
          <a:p>
            <a:r>
              <a:t>INSTRUCTIONS:</a:t>
            </a:r>
          </a:p>
          <a:p>
            <a:r>
              <a:t>  1. Identify 2-3 historical claims made in the primary source</a:t>
            </a:r>
          </a:p>
          <a:p>
            <a:r>
              <a:t>  2. Evaluate the evidence supporting each claim</a:t>
            </a:r>
          </a:p>
          <a:p>
            <a:r>
              <a:t>  3. Rate the reliability of each claim (strong/moderate/weak)</a:t>
            </a:r>
          </a:p>
          <a:p>
            <a:r>
              <a:t>  4. Justify your ratings with specific evidence from the source</a:t>
            </a:r>
          </a:p>
          <a:p/>
          <a:p>
            <a:r>
              <a:t>MATERIALS NEEDED:</a:t>
            </a:r>
          </a:p>
          <a:p>
            <a:r>
              <a:t>  - Claim Evaluation Chart</a:t>
            </a:r>
          </a:p>
          <a:p>
            <a:r>
              <a:t>  - Reliability Rating Rubric</a:t>
            </a:r>
          </a:p>
          <a:p/>
          <a:p>
            <a:r>
              <a:t>STUDENT OUTPUT: Completed claim evaluation chart with justifications</a:t>
            </a:r>
          </a:p>
          <a:p/>
          <a:p>
            <a:r>
              <a:t>ASSESSMENT: Partner review followed by class discussion</a:t>
            </a:r>
          </a:p>
          <a:p/>
          <a:p>
            <a:r>
              <a:t>========================================</a:t>
            </a:r>
          </a:p>
          <a:p/>
          <a:p>
            <a:r>
              <a:t>SAY: [Introduce the activity and explain expectations]</a:t>
            </a:r>
          </a:p>
          <a:p/>
          <a:p>
            <a:r>
              <a:t>ASK: [Check for understanding before students begin]</a:t>
            </a:r>
          </a:p>
          <a:p/>
          <a:p>
            <a:r>
              <a:t>DEMO: [Show example if applicable]</a:t>
            </a:r>
          </a:p>
          <a:p/>
          <a:p>
            <a:r>
              <a:t>WATCH FOR: [Common issues or misconceptions to address]</a:t>
            </a:r>
          </a:p>
          <a:p/>
          <a:p>
            <a:r>
              <a:t>========================================</a:t>
            </a:r>
          </a:p>
          <a:p/>
          <a:p>
            <a:r>
              <a:t>DIFFERENTIATION:</a:t>
            </a:r>
          </a:p>
          <a:p>
            <a:r>
              <a:t>  Support:</a:t>
            </a:r>
          </a:p>
          <a:p>
            <a:r>
              <a:t>    - Pre-identify one claim for students to evaluate</a:t>
            </a:r>
          </a:p>
          <a:p>
            <a:r>
              <a:t>    - Provide examples of strong vs weak evidence</a:t>
            </a:r>
          </a:p>
          <a:p>
            <a:r>
              <a:t>  Extension:</a:t>
            </a:r>
          </a:p>
          <a:p>
            <a:r>
              <a:t>    - Research additional sources to corroborate or challenge claims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MARZANO LEVEL: Analysis</a:t>
            </a:r>
          </a:p>
          <a:p/>
          <a:p>
            <a:r>
              <a:t>INSTRUCTIONS:</a:t>
            </a:r>
          </a:p>
          <a:p>
            <a:r>
              <a:t>  1. Answer the exit ticket questions independently</a:t>
            </a:r>
          </a:p>
          <a:p>
            <a:r>
              <a:t>  2. Submit before leaving class</a:t>
            </a:r>
          </a:p>
          <a:p/>
          <a:p>
            <a:r>
              <a:t>MATERIALS NEEDED:</a:t>
            </a:r>
          </a:p>
          <a:p>
            <a:r>
              <a:t>  - Exit ticket form</a:t>
            </a:r>
          </a:p>
          <a:p/>
          <a:p>
            <a:r>
              <a:t>STUDENT OUTPUT: Completed exit ticket</a:t>
            </a:r>
          </a:p>
          <a:p/>
          <a:p>
            <a:r>
              <a:t>ASSESSMENT: Exit ticket collection and review</a:t>
            </a:r>
          </a:p>
          <a:p/>
          <a:p>
            <a:r>
              <a:t>========================================</a:t>
            </a:r>
          </a:p>
          <a:p/>
          <a:p>
            <a:r>
              <a:t>SAY: [Introduce the activity and explain expectations]</a:t>
            </a:r>
          </a:p>
          <a:p/>
          <a:p>
            <a:r>
              <a:t>ASK: [Check for understanding before students begin]</a:t>
            </a:r>
          </a:p>
          <a:p/>
          <a:p>
            <a:r>
              <a:t>DEMO: [Show example if applicable]</a:t>
            </a:r>
          </a:p>
          <a:p/>
          <a:p>
            <a:r>
              <a:t>WATCH FOR: [Common issues or misconceptions to address]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SAY: Before you leave, I want to check what you learned today.</a:t>
            </a:r>
          </a:p>
          <a:p/>
          <a:p>
            <a:r>
              <a:t>TIMING: Allow 3-5 minutes for completion.</a:t>
            </a:r>
          </a:p>
          <a:p/>
          <a:p>
            <a:r>
              <a:t>COLLECTION: [How will you collect responses?]</a:t>
            </a:r>
          </a:p>
          <a:p/>
          <a:p>
            <a:r>
              <a:t>FOLLOW-UP: Review responses to inform next lesson planning.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LESSON PLAN - For Teacher Only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OBJECTIVE: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Students will analyze a primary source document and evaluate the historical claims it makes.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AGENDA WITH TIMING: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- Prior Knowledge Activation (5 min)</a:t>
            </a:r>
            <a:br/>
            <a:r>
              <a:t>- Introduction to Primary Sources (10 min)</a:t>
            </a:r>
            <a:br/>
            <a:r>
              <a:t>- Document Analysis Practice (15 min)</a:t>
            </a:r>
            <a:br/>
            <a:r>
              <a:t>- Evaluating Historical Claims (15 min)</a:t>
            </a:r>
            <a:br/>
            <a:r>
              <a:t>- Exit Ticket (5 min)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91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ANTICIPATED MISCONCEPTIONS: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611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- Students may think all old documents are primary sources (age does not determine primary vs secondary)</a:t>
            </a:r>
            <a:br/>
            <a:r>
              <a:t>- Students may confuse objectivity with reliability (biased sources can still be reliable for certain purposes)</a:t>
            </a:r>
            <a:br/>
            <a:r>
              <a:t>- Students may think primary sources are always more accurate than secondary sources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DELIVERY TIPS: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- Use a document relevant to your current unit - Civil War letters work well for this topic</a:t>
            </a:r>
            <a:br/>
            <a:r>
              <a:t>- Model the SOAP analysis process with a practice document before independent work</a:t>
            </a:r>
            <a:br/>
            <a:r>
              <a:t>- Circulate during analysis activity to provide targeted feedback</a:t>
            </a:r>
            <a:br/>
            <a:r>
              <a:t>- Leave time for class discussion of claim evaluations - differences in interpretation are valuable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Analyzing Primary Sources: Civil War Era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333333"/>
                </a:solidFill>
              </a:defRPr>
            </a:pPr>
            <a:r>
              <a:t>Grade 8th grade | 50 min | Introducing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Learning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Students will analyze a primary source document and evaluate the historical claims it makes.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Activity 1: Prior Knowledge Activation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i="1">
                <a:solidFill>
                  <a:srgbClr val="646464"/>
                </a:solidFill>
              </a:defRPr>
            </a:pPr>
            <a:r>
              <a:t>Time: 5 minutes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Think of a historical event you know well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Consider: What sources tell us about that event?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Share one example with a partner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Activity 2: Introduction to Primary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i="1">
                <a:solidFill>
                  <a:srgbClr val="646464"/>
                </a:solidFill>
              </a:defRPr>
            </a:pPr>
            <a:r>
              <a:t>Time: 10 minutes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Primary = firsthand, from the time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Examples: letters, diaries, photos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Secondary = created later, about the event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Activity 3: Document Analysis Practice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i="1">
                <a:solidFill>
                  <a:srgbClr val="646464"/>
                </a:solidFill>
              </a:defRPr>
            </a:pPr>
            <a:r>
              <a:t>Time: 15 minutes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Who wrote it? When?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What perspective do they have?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What biases might be present?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Activity 4: Evaluating Historical Claims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i="1">
                <a:solidFill>
                  <a:srgbClr val="646464"/>
                </a:solidFill>
              </a:defRPr>
            </a:pPr>
            <a:r>
              <a:t>Time: 15 minutes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What claims does the author make?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What evidence supports each claim?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How reliable is this source?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Activity 5: Exit Ticket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i="1">
                <a:solidFill>
                  <a:srgbClr val="646464"/>
                </a:solidFill>
              </a:defRPr>
            </a:pPr>
            <a:r>
              <a:t>Time: 5 minutes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Answer the exit ticket questions independently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Submit before leaving class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000">
                <a:solidFill>
                  <a:srgbClr val="003366"/>
                </a:solidFill>
              </a:defRPr>
            </a:pPr>
            <a:r>
              <a:t>Exit Ticket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333333"/>
                </a:solidFill>
              </a:defRPr>
            </a:pPr>
            <a:r>
              <a:t>Quick check of primary source analysis skills learned in today's lesson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1. What makes a source 'primary' rather than 'secondary'? Give one example of each.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2. What is one way to identify potential bias in a primary source?</a:t>
            </a:r>
          </a:p>
          <a:p>
            <a:pPr>
              <a:defRPr sz="2000">
                <a:solidFill>
                  <a:srgbClr val="333333"/>
                </a:solidFill>
              </a:defRPr>
            </a:pPr>
            <a:r>
              <a:t>3. Why is it important to evaluate the reliability of historical claims?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